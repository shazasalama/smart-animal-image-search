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92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the team and the supervisor, then say: our project lets you upload an animal photo and instantly find the most similar photos from a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first with a real example, like searching a phone gallery for dog photos. Then present our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 slowly. Stress that every image, the user's and the dataset's, goes through the same feature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design choice. Filtering by category improves accuracy and speed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a pretrained model, so no training was needed. Streamlit let us build the interface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folders use Italian names, so the app maps them to English. Each category gets an equal share of the 500 image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 here: upload one photo and show the detected category and the five matches.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96774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75460"/>
            <a:ext cx="10566400" cy="426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96774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75460"/>
            <a:ext cx="10566400" cy="426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06100" y="304800"/>
            <a:ext cx="1079500" cy="1079500"/>
          </a:xfrm>
          <a:prstGeom prst="roundRect">
            <a:avLst>
              <a:gd name="adj" fmla="val 5000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02900" y="952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684000" y="127000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660400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Animal Image Search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12800" y="156972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visually similar animal images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" y="3195399"/>
            <a:ext cx="4640659" cy="2849801"/>
          </a:xfrm>
          <a:prstGeom prst="roundRect">
            <a:avLst>
              <a:gd name="adj" fmla="val 3565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3195399"/>
            <a:ext cx="4640659" cy="2849801"/>
          </a:xfrm>
          <a:custGeom>
            <a:avLst/>
            <a:gdLst/>
            <a:ahLst/>
            <a:cxnLst/>
            <a:rect l="l" t="t" r="r" b="b"/>
            <a:pathLst>
              <a:path w="4640659" h="284980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4539059" y="0"/>
                </a:lnTo>
                <a:arcTo wR="101600" hR="101600" stAng="16200000" swAng="5400000"/>
                <a:lnTo>
                  <a:pt x="4640659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6800" y="3627676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95399" y="3434079"/>
            <a:ext cx="3499238" cy="51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75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EG" sz="275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اكرامي عبد العاطي</a:t>
            </a:r>
            <a:r>
              <a:rPr lang="en-US" sz="275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750" dirty="0"/>
          </a:p>
        </p:txBody>
      </p:sp>
      <p:sp>
        <p:nvSpPr>
          <p:cNvPr id="11" name="Shape 9"/>
          <p:cNvSpPr/>
          <p:nvPr/>
        </p:nvSpPr>
        <p:spPr>
          <a:xfrm>
            <a:off x="1066800" y="4111308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95400" y="3917633"/>
            <a:ext cx="25968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75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انس اشرف الخولي</a:t>
            </a:r>
            <a:endParaRPr lang="en-US" sz="2750" dirty="0"/>
          </a:p>
        </p:txBody>
      </p:sp>
      <p:sp>
        <p:nvSpPr>
          <p:cNvPr id="13" name="Shape 11"/>
          <p:cNvSpPr/>
          <p:nvPr/>
        </p:nvSpPr>
        <p:spPr>
          <a:xfrm>
            <a:off x="1066800" y="459486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F7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95400" y="4401264"/>
            <a:ext cx="242744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75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شذا يوسف سلامه</a:t>
            </a:r>
            <a:endParaRPr lang="en-US" sz="2750" dirty="0"/>
          </a:p>
        </p:txBody>
      </p:sp>
      <p:sp>
        <p:nvSpPr>
          <p:cNvPr id="15" name="Shape 13"/>
          <p:cNvSpPr/>
          <p:nvPr/>
        </p:nvSpPr>
        <p:spPr>
          <a:xfrm>
            <a:off x="1066800" y="5078492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5400" y="4884817"/>
            <a:ext cx="32214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75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خديجه اسامه الشعراوي</a:t>
            </a:r>
            <a:endParaRPr lang="en-US" sz="2750" dirty="0"/>
          </a:p>
        </p:txBody>
      </p:sp>
      <p:sp>
        <p:nvSpPr>
          <p:cNvPr id="17" name="Shape 15"/>
          <p:cNvSpPr/>
          <p:nvPr/>
        </p:nvSpPr>
        <p:spPr>
          <a:xfrm>
            <a:off x="1066800" y="5562045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95400" y="5368449"/>
            <a:ext cx="26505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75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هنا محمد العرجاوي</a:t>
            </a:r>
            <a:endParaRPr lang="en-US" sz="2750" dirty="0"/>
          </a:p>
        </p:txBody>
      </p:sp>
      <p:sp>
        <p:nvSpPr>
          <p:cNvPr id="19" name="Text 17"/>
          <p:cNvSpPr/>
          <p:nvPr/>
        </p:nvSpPr>
        <p:spPr>
          <a:xfrm>
            <a:off x="812800" y="2110184"/>
            <a:ext cx="33094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2800" y="2465784"/>
            <a:ext cx="330949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5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Loading</a:t>
            </a:r>
            <a:endParaRPr lang="en-US" sz="3500" dirty="0"/>
          </a:p>
        </p:txBody>
      </p:sp>
      <p:sp>
        <p:nvSpPr>
          <p:cNvPr id="21" name="Text 19"/>
          <p:cNvSpPr/>
          <p:nvPr/>
        </p:nvSpPr>
        <p:spPr>
          <a:xfrm>
            <a:off x="7106603" y="6045200"/>
            <a:ext cx="481936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5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 </a:t>
            </a:r>
            <a:r>
              <a:rPr lang="en-US" sz="25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 Fatma Talaat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06100" y="304800"/>
            <a:ext cx="1079500" cy="1079500"/>
          </a:xfrm>
          <a:prstGeom prst="roundRect">
            <a:avLst>
              <a:gd name="adj" fmla="val 5000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02900" y="952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684000" y="127000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6604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96774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Picture, Not by Words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1750060"/>
            <a:ext cx="3386614" cy="2131060"/>
          </a:xfrm>
          <a:prstGeom prst="roundRect">
            <a:avLst>
              <a:gd name="adj" fmla="val 4768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750060"/>
            <a:ext cx="3386614" cy="2131060"/>
          </a:xfrm>
          <a:custGeom>
            <a:avLst/>
            <a:gdLst/>
            <a:ahLst/>
            <a:cxnLst/>
            <a:rect l="l" t="t" r="r" b="b"/>
            <a:pathLst>
              <a:path w="3386614" h="21310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14" y="0"/>
                </a:lnTo>
                <a:arcTo wR="101600" hR="101600" stAng="16200000" swAng="5400000"/>
                <a:lnTo>
                  <a:pt x="338661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F7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1400" y="2029460"/>
            <a:ext cx="301729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F7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41400" y="2407920"/>
            <a:ext cx="301729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collections are huge. Finding similar images by file name or tags is slow, inconsistent, and often impossible when images have no labels.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2614" y="1750060"/>
            <a:ext cx="3386693" cy="2131060"/>
          </a:xfrm>
          <a:prstGeom prst="roundRect">
            <a:avLst>
              <a:gd name="adj" fmla="val 4768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02614" y="1750060"/>
            <a:ext cx="3386693" cy="2131060"/>
          </a:xfrm>
          <a:custGeom>
            <a:avLst/>
            <a:gdLst/>
            <a:ahLst/>
            <a:cxnLst/>
            <a:rect l="l" t="t" r="r" b="b"/>
            <a:pathLst>
              <a:path w="3386693" h="21310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31214" y="2029460"/>
            <a:ext cx="301737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31214" y="2407920"/>
            <a:ext cx="3017378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computer look at the picture. The user uploads one animal photo and the app finds images that look alike, using what a neural network sees.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2507" y="1750060"/>
            <a:ext cx="3386693" cy="2131060"/>
          </a:xfrm>
          <a:prstGeom prst="roundRect">
            <a:avLst>
              <a:gd name="adj" fmla="val 4768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92507" y="1750060"/>
            <a:ext cx="3386693" cy="2131060"/>
          </a:xfrm>
          <a:custGeom>
            <a:avLst/>
            <a:gdLst/>
            <a:ahLst/>
            <a:cxnLst/>
            <a:rect l="l" t="t" r="r" b="b"/>
            <a:pathLst>
              <a:path w="3386693" h="21310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1107" y="2029460"/>
            <a:ext cx="301737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4FB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1107" y="2407920"/>
            <a:ext cx="3017378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closest matches appear instantly, each with a similarity percentage, so the user can judge how close every match is.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1605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a simple web app anyone can use with no technical knowledge.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06100" y="304800"/>
            <a:ext cx="1079500" cy="1079500"/>
          </a:xfrm>
          <a:prstGeom prst="roundRect">
            <a:avLst>
              <a:gd name="adj" fmla="val 5000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02900" y="952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684000" y="127000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6604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96774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1750061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2397761"/>
            <a:ext cx="252463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2800" y="2776220"/>
            <a:ext cx="252463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uploads a JPG, PNG, WEBP or BMP photo. It is converted to RGB so every format is handled the same way.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17900" y="1750061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17900" y="2397761"/>
            <a:ext cx="252463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17900" y="2776220"/>
            <a:ext cx="2524633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 predicts what is in the photo. The ImageNet label, for example Tabby, is mapped to one of our 10 categories.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23000" y="1750061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EF7B5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23000" y="2397761"/>
            <a:ext cx="252463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23000" y="2776220"/>
            <a:ext cx="252463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turns the image into 512 numbers that describe its look. The vector is normalized so sizes can be compared fairly.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28100" y="1750061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28100" y="2397761"/>
            <a:ext cx="252463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928100" y="2776220"/>
            <a:ext cx="2524633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compares the query with every image in that category. The top 5 are shown with their scores.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06100" y="304800"/>
            <a:ext cx="1079500" cy="1079500"/>
          </a:xfrm>
          <a:prstGeom prst="roundRect">
            <a:avLst>
              <a:gd name="adj" fmla="val 5000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02900" y="952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684000" y="127000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6604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SMART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96774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First, Then Search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1750061"/>
            <a:ext cx="3386614" cy="2131060"/>
          </a:xfrm>
          <a:prstGeom prst="roundRect">
            <a:avLst>
              <a:gd name="adj" fmla="val 4768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750061"/>
            <a:ext cx="3386614" cy="2131060"/>
          </a:xfrm>
          <a:custGeom>
            <a:avLst/>
            <a:gdLst/>
            <a:ahLst/>
            <a:cxnLst/>
            <a:rect l="l" t="t" r="r" b="b"/>
            <a:pathLst>
              <a:path w="3386614" h="21310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14" y="0"/>
                </a:lnTo>
                <a:arcTo wR="101600" hR="101600" stAng="16200000" swAng="5400000"/>
                <a:lnTo>
                  <a:pt x="338661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1400" y="2029461"/>
            <a:ext cx="301729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4FB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41400" y="2407920"/>
            <a:ext cx="301729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comparing with all 500 images, the app first detects the animal and searches only that folder. A cat photo is never matched with a spider.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2614" y="1750061"/>
            <a:ext cx="3386693" cy="2131060"/>
          </a:xfrm>
          <a:prstGeom prst="roundRect">
            <a:avLst>
              <a:gd name="adj" fmla="val 4768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02614" y="1750061"/>
            <a:ext cx="3386693" cy="2131060"/>
          </a:xfrm>
          <a:custGeom>
            <a:avLst/>
            <a:gdLst/>
            <a:ahLst/>
            <a:cxnLst/>
            <a:rect l="l" t="t" r="r" b="b"/>
            <a:pathLst>
              <a:path w="3386693" h="21310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31214" y="2029461"/>
            <a:ext cx="301737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31214" y="2407920"/>
            <a:ext cx="3017378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images are close when their feature vectors point in the same direction. A score near 100% means the images look very much alike.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2507" y="1750061"/>
            <a:ext cx="3386693" cy="2131060"/>
          </a:xfrm>
          <a:prstGeom prst="roundRect">
            <a:avLst>
              <a:gd name="adj" fmla="val 4768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92507" y="1750061"/>
            <a:ext cx="3386693" cy="2131060"/>
          </a:xfrm>
          <a:custGeom>
            <a:avLst/>
            <a:gdLst/>
            <a:ahLst/>
            <a:cxnLst/>
            <a:rect l="l" t="t" r="r" b="b"/>
            <a:pathLst>
              <a:path w="3386693" h="21310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F7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1107" y="2029461"/>
            <a:ext cx="301737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F7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and Fast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1107" y="2407920"/>
            <a:ext cx="3017378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features are computed once and cached, so each new search only processes the uploaded image and takes a moment.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06100" y="304800"/>
            <a:ext cx="1079500" cy="1079500"/>
          </a:xfrm>
          <a:prstGeom prst="roundRect">
            <a:avLst>
              <a:gd name="adj" fmla="val 5000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02900" y="952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684000" y="127000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6604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967739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1750061"/>
            <a:ext cx="3302000" cy="1082040"/>
          </a:xfrm>
          <a:prstGeom prst="roundRect">
            <a:avLst>
              <a:gd name="adj" fmla="val 939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750061"/>
            <a:ext cx="3302000" cy="1082040"/>
          </a:xfrm>
          <a:custGeom>
            <a:avLst/>
            <a:gdLst/>
            <a:ahLst/>
            <a:cxnLst/>
            <a:rect l="l" t="t" r="r" b="b"/>
            <a:pathLst>
              <a:path w="3302000" h="1082040">
                <a:moveTo>
                  <a:pt x="101600" y="1082040"/>
                </a:moveTo>
                <a:lnTo>
                  <a:pt x="101600" y="108204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980440"/>
                </a:lnTo>
                <a:arcTo wR="50800" hR="101600" stAng="10800000" swAng="-5400000"/>
                <a:close/>
              </a:path>
            </a:pathLst>
          </a:cu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1400" y="1927861"/>
            <a:ext cx="29824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41400" y="2225039"/>
            <a:ext cx="2982468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interactive web interface in pure 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8000" y="1750061"/>
            <a:ext cx="3302000" cy="1082040"/>
          </a:xfrm>
          <a:prstGeom prst="roundRect">
            <a:avLst>
              <a:gd name="adj" fmla="val 939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8000" y="1750061"/>
            <a:ext cx="3302000" cy="1082040"/>
          </a:xfrm>
          <a:custGeom>
            <a:avLst/>
            <a:gdLst/>
            <a:ahLst/>
            <a:cxnLst/>
            <a:rect l="l" t="t" r="r" b="b"/>
            <a:pathLst>
              <a:path w="3302000" h="1082040">
                <a:moveTo>
                  <a:pt x="101600" y="1082040"/>
                </a:moveTo>
                <a:lnTo>
                  <a:pt x="101600" y="108204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980440"/>
                </a:lnTo>
                <a:arcTo wR="50800" hR="101600" stAng="10800000" swAng="-5400000"/>
                <a:close/>
              </a:path>
            </a:pathLst>
          </a:cu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46600" y="1927861"/>
            <a:ext cx="29824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FB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6600" y="2225039"/>
            <a:ext cx="2982468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ImageNet, used for detection and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23200" y="1750061"/>
            <a:ext cx="3302000" cy="1082040"/>
          </a:xfrm>
          <a:prstGeom prst="roundRect">
            <a:avLst>
              <a:gd name="adj" fmla="val 939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23200" y="1750061"/>
            <a:ext cx="3302000" cy="1082040"/>
          </a:xfrm>
          <a:custGeom>
            <a:avLst/>
            <a:gdLst/>
            <a:ahLst/>
            <a:cxnLst/>
            <a:rect l="l" t="t" r="r" b="b"/>
            <a:pathLst>
              <a:path w="3302000" h="1082040">
                <a:moveTo>
                  <a:pt x="101600" y="1082040"/>
                </a:moveTo>
                <a:lnTo>
                  <a:pt x="101600" y="108204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980440"/>
                </a:lnTo>
                <a:arcTo wR="50800" hR="101600" stAng="10800000" swAng="-5400000"/>
                <a:close/>
              </a:path>
            </a:pathLst>
          </a:custGeom>
          <a:solidFill>
            <a:srgbClr val="EF7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51800" y="1927861"/>
            <a:ext cx="29824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F7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51800" y="2225039"/>
            <a:ext cx="2982468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model and extracts the feature vectors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800" y="3035300"/>
            <a:ext cx="3302000" cy="1082040"/>
          </a:xfrm>
          <a:prstGeom prst="roundRect">
            <a:avLst>
              <a:gd name="adj" fmla="val 939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2800" y="3035300"/>
            <a:ext cx="3302000" cy="1082040"/>
          </a:xfrm>
          <a:custGeom>
            <a:avLst/>
            <a:gdLst/>
            <a:ahLst/>
            <a:cxnLst/>
            <a:rect l="l" t="t" r="r" b="b"/>
            <a:pathLst>
              <a:path w="3302000" h="1082040">
                <a:moveTo>
                  <a:pt x="101600" y="1082040"/>
                </a:moveTo>
                <a:lnTo>
                  <a:pt x="101600" y="108204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980440"/>
                </a:lnTo>
                <a:arcTo wR="50800" hR="101600" stAng="10800000" swAng="-5400000"/>
                <a:close/>
              </a:path>
            </a:pathLst>
          </a:cu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1400" y="3213100"/>
            <a:ext cx="29824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41400" y="3510282"/>
            <a:ext cx="2982468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cosine similarity between images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18000" y="3035300"/>
            <a:ext cx="3302000" cy="1082040"/>
          </a:xfrm>
          <a:prstGeom prst="roundRect">
            <a:avLst>
              <a:gd name="adj" fmla="val 939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18000" y="3035300"/>
            <a:ext cx="3302000" cy="1082040"/>
          </a:xfrm>
          <a:custGeom>
            <a:avLst/>
            <a:gdLst/>
            <a:ahLst/>
            <a:cxnLst/>
            <a:rect l="l" t="t" r="r" b="b"/>
            <a:pathLst>
              <a:path w="3302000" h="1082040">
                <a:moveTo>
                  <a:pt x="101600" y="1082040"/>
                </a:moveTo>
                <a:lnTo>
                  <a:pt x="101600" y="108204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980440"/>
                </a:lnTo>
                <a:arcTo wR="50800" hR="101600" stAng="10800000" swAng="-5400000"/>
                <a:close/>
              </a:path>
            </a:pathLst>
          </a:cu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46600" y="3320414"/>
            <a:ext cx="233495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FB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 and NumPy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46600" y="3617596"/>
            <a:ext cx="2720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loading and vector math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06100" y="304800"/>
            <a:ext cx="1079500" cy="1079500"/>
          </a:xfrm>
          <a:prstGeom prst="roundRect">
            <a:avLst>
              <a:gd name="adj" fmla="val 5000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02900" y="952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684000" y="127000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6604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967739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Animals-10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1750061"/>
            <a:ext cx="3386614" cy="1526540"/>
          </a:xfrm>
          <a:prstGeom prst="roundRect">
            <a:avLst>
              <a:gd name="adj" fmla="val 6656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750061"/>
            <a:ext cx="3386614" cy="1526540"/>
          </a:xfrm>
          <a:custGeom>
            <a:avLst/>
            <a:gdLst/>
            <a:ahLst/>
            <a:cxnLst/>
            <a:rect l="l" t="t" r="r" b="b"/>
            <a:pathLst>
              <a:path w="3386614" h="15265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14" y="0"/>
                </a:lnTo>
                <a:arcTo wR="101600" hR="101600" stAng="16200000" swAng="5400000"/>
                <a:lnTo>
                  <a:pt x="338661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6000" y="2004061"/>
            <a:ext cx="30696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016000" y="2824482"/>
            <a:ext cx="3069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categories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2614" y="1750061"/>
            <a:ext cx="3386693" cy="1526540"/>
          </a:xfrm>
          <a:prstGeom prst="roundRect">
            <a:avLst>
              <a:gd name="adj" fmla="val 6656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02614" y="1750061"/>
            <a:ext cx="3386693" cy="1526540"/>
          </a:xfrm>
          <a:custGeom>
            <a:avLst/>
            <a:gdLst/>
            <a:ahLst/>
            <a:cxnLst/>
            <a:rect l="l" t="t" r="r" b="b"/>
            <a:pathLst>
              <a:path w="3386693" h="15265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05814" y="2004061"/>
            <a:ext cx="306970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4FB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05814" y="2824482"/>
            <a:ext cx="3069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per category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2507" y="1750061"/>
            <a:ext cx="3386693" cy="1526540"/>
          </a:xfrm>
          <a:prstGeom prst="roundRect">
            <a:avLst>
              <a:gd name="adj" fmla="val 6656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92507" y="1750061"/>
            <a:ext cx="3386693" cy="1526540"/>
          </a:xfrm>
          <a:custGeom>
            <a:avLst/>
            <a:gdLst/>
            <a:ahLst/>
            <a:cxnLst/>
            <a:rect l="l" t="t" r="r" b="b"/>
            <a:pathLst>
              <a:path w="3386693" h="15265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F7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5707" y="2004061"/>
            <a:ext cx="306970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EF7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195707" y="2824482"/>
            <a:ext cx="3069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searched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556000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44800" y="3556000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(gatto)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76800" y="3556000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Horse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(cavallo)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8800" y="3556000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Elephant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(elefante)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40800" y="3556000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Butterfly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(farfalla)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4160521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(gallina)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44800" y="4160521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(mucca)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76800" y="4160521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Sheep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(pecora)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8800" y="4160521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Spider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(ragno)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40800" y="4160521"/>
            <a:ext cx="1905000" cy="477520"/>
          </a:xfrm>
          <a:prstGeom prst="roundRect">
            <a:avLst>
              <a:gd name="adj" fmla="val 15957"/>
            </a:avLst>
          </a:prstGeom>
          <a:solidFill>
            <a:srgbClr val="1A2B45"/>
          </a:solidFill>
          <a:ln/>
        </p:spPr>
        <p:txBody>
          <a:bodyPr wrap="square" lIns="117382" tIns="91982" rIns="66582" bIns="665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Squirrel</a:t>
            </a: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(scoiattolo)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06100" y="304800"/>
            <a:ext cx="1079500" cy="1079500"/>
          </a:xfrm>
          <a:prstGeom prst="roundRect">
            <a:avLst>
              <a:gd name="adj" fmla="val 50000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02900" y="952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684000" y="127000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6604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967739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and Output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1750061"/>
            <a:ext cx="3386614" cy="1897380"/>
          </a:xfrm>
          <a:prstGeom prst="roundRect">
            <a:avLst>
              <a:gd name="adj" fmla="val 5355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800" y="1750061"/>
            <a:ext cx="3386614" cy="1897380"/>
          </a:xfrm>
          <a:custGeom>
            <a:avLst/>
            <a:gdLst/>
            <a:ahLst/>
            <a:cxnLst/>
            <a:rect l="l" t="t" r="r" b="b"/>
            <a:pathLst>
              <a:path w="3386614" h="189738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14" y="0"/>
                </a:lnTo>
                <a:arcTo wR="101600" hR="101600" stAng="16200000" swAng="5400000"/>
                <a:lnTo>
                  <a:pt x="338661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1400" y="2029461"/>
            <a:ext cx="301729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Category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1400" y="2423161"/>
            <a:ext cx="301729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upload, the app shows the uploaded image and tells the user which animal it detected, for example Cats.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2614" y="1750061"/>
            <a:ext cx="3386693" cy="1897380"/>
          </a:xfrm>
          <a:prstGeom prst="roundRect">
            <a:avLst>
              <a:gd name="adj" fmla="val 5355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02614" y="1750061"/>
            <a:ext cx="3386693" cy="1897380"/>
          </a:xfrm>
          <a:custGeom>
            <a:avLst/>
            <a:gdLst/>
            <a:ahLst/>
            <a:cxnLst/>
            <a:rect l="l" t="t" r="r" b="b"/>
            <a:pathLst>
              <a:path w="3386693" h="189738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4FB3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31214" y="2029461"/>
            <a:ext cx="30173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FB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Matches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31214" y="2423161"/>
            <a:ext cx="301737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most similar images from that category appear side by side, with the file name under each one.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2507" y="1750061"/>
            <a:ext cx="3386693" cy="1897380"/>
          </a:xfrm>
          <a:prstGeom prst="roundRect">
            <a:avLst>
              <a:gd name="adj" fmla="val 5355"/>
            </a:avLst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92507" y="1750061"/>
            <a:ext cx="3386693" cy="1897380"/>
          </a:xfrm>
          <a:custGeom>
            <a:avLst/>
            <a:gdLst/>
            <a:ahLst/>
            <a:cxnLst/>
            <a:rect l="l" t="t" r="r" b="b"/>
            <a:pathLst>
              <a:path w="3386693" h="189738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F7B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1107" y="2029461"/>
            <a:ext cx="30173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F7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Score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1107" y="2423161"/>
            <a:ext cx="3017378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3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match has a similarity percentage, so the user can see how close each image is to the uploaded one.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926839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Animal Image Search">
  <a:themeElements>
    <a:clrScheme name="Smart Animal Image Search">
      <a:dk1>
        <a:srgbClr val="0F1B2D"/>
      </a:dk1>
      <a:lt1>
        <a:srgbClr val="F6F3EC"/>
      </a:lt1>
      <a:dk2>
        <a:srgbClr val="263140"/>
      </a:dk2>
      <a:lt2>
        <a:srgbClr val="BCBDBC"/>
      </a:lt2>
      <a:accent1>
        <a:srgbClr val="F2A541"/>
      </a:accent1>
      <a:accent2>
        <a:srgbClr val="4FB3A9"/>
      </a:accent2>
      <a:accent3>
        <a:srgbClr val="EF7B5D"/>
      </a:accent3>
      <a:accent4>
        <a:srgbClr val="9FB0C8"/>
      </a:accent4>
      <a:accent5>
        <a:srgbClr val="D3DCEA"/>
      </a:accent5>
      <a:accent6>
        <a:srgbClr val="9AA0A6"/>
      </a:accent6>
      <a:hlink>
        <a:srgbClr val="0563C1"/>
      </a:hlink>
      <a:folHlink>
        <a:srgbClr val="954F72"/>
      </a:folHlink>
    </a:clrScheme>
    <a:fontScheme name="Smart Animal Image Sear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706</Words>
  <Application>Microsoft Office PowerPoint</Application>
  <PresentationFormat>Widescreen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Smart Animal Image Search</vt:lpstr>
      <vt:lpstr>Smart Animal Image Search</vt:lpstr>
      <vt:lpstr>Search by Picture, Not by Words</vt:lpstr>
      <vt:lpstr>How It Works</vt:lpstr>
      <vt:lpstr>Detect First, Then Search</vt:lpstr>
      <vt:lpstr>Technology Stack</vt:lpstr>
      <vt:lpstr>Dataset: Animals-10</vt:lpstr>
      <vt:lpstr>Demo and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Animal Image Search</dc:title>
  <dc:subject/>
  <dc:creator/>
  <cp:lastModifiedBy>Shaza Salama</cp:lastModifiedBy>
  <cp:revision>2</cp:revision>
  <dcterms:created xsi:type="dcterms:W3CDTF">2026-10-16T19:29:37Z</dcterms:created>
  <dcterms:modified xsi:type="dcterms:W3CDTF">2026-10-16T19:33:08Z</dcterms:modified>
</cp:coreProperties>
</file>